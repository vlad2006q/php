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46720" y="0"/>
            <a:ext cx="4160520" cy="6858000"/>
          </a:xfrm>
          <a:prstGeom prst="rect">
            <a:avLst/>
          </a:prstGeom>
          <a:solidFill>
            <a:srgbClr val="36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65F56"/>
                </a:solidFill>
                <a:latin typeface="Aptos"/>
              </a:defRPr>
            </a:pPr>
            <a:r>
              <a:t>САМОСТОЯТЕЛЬНАЯ РАБОТА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858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02A35"/>
                </a:solidFill>
                <a:latin typeface="Aptos Display"/>
              </a:defRPr>
            </a:pPr>
            <a:r>
              <a:t>Электронный</a:t>
            </a:r>
            <a:br/>
            <a:r>
              <a:t>каталог библиотеки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47E"/>
                </a:solidFill>
                <a:latin typeface="Aptos"/>
              </a:defRPr>
            </a:pPr>
            <a:r>
              <a:t>Программирование на PHP · Вариант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8348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02A35"/>
                </a:solidFill>
                <a:latin typeface="Aptos"/>
              </a:defRPr>
            </a:pPr>
            <a:r>
              <a:t>Выполнил(а): [ФИО]</a:t>
            </a:r>
            <a:br/>
            <a:r>
              <a:t>Группа: [номер группы] · Алматы,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9202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Aptos"/>
              </a:defRPr>
            </a:pPr>
            <a:r>
              <a:t>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6576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PHP 8.4  |  JSON  |  Sessions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65F56"/>
                </a:solidFill>
                <a:latin typeface="Aptos Display"/>
              </a:defRPr>
            </a:pPr>
            <a:r>
              <a:t>Проблема и цель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8747E"/>
                </a:solidFill>
                <a:latin typeface="Aptos"/>
              </a:defRPr>
            </a:pPr>
            <a:r>
              <a:t>Электронный каталог библиотеки · PHP 8.4 · Вариант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8747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Удобно находить книги по названию, автору и описанию.</a:t>
            </a:r>
          </a:p>
          <a:p>
            <a:pPr>
              <a:spcAft>
                <a:spcPts val="14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Сужать список по жанру и году издания.</a:t>
            </a:r>
          </a:p>
          <a:p>
            <a:pPr>
              <a:spcAft>
                <a:spcPts val="14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Сортировать результаты и открывать карточку книги.</a:t>
            </a:r>
          </a:p>
          <a:p>
            <a:pPr>
              <a:spcAft>
                <a:spcPts val="1400"/>
              </a:spcAft>
              <a:defRPr sz="2100">
                <a:solidFill>
                  <a:srgbClr val="202A35"/>
                </a:solidFill>
                <a:latin typeface="Aptos"/>
              </a:defRPr>
            </a:pPr>
            <a:r>
              <a:t>•  Сохранять личный список избранного без базы данных.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65F56"/>
                </a:solidFill>
                <a:latin typeface="Aptos Display"/>
              </a:defRPr>
            </a:pPr>
            <a:r>
              <a:t>Функциональные требования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8747E"/>
                </a:solidFill>
                <a:latin typeface="Aptos"/>
              </a:defRPr>
            </a:pPr>
            <a:r>
              <a:t>Электронный каталог библиотеки · PHP 8.4 · Вариант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8747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02A35"/>
                </a:solidFill>
                <a:latin typeface="Aptos"/>
              </a:defRPr>
            </a:pPr>
            <a:r>
              <a:t>•  Каталог содержит 30 демонстрационных книг в JSON.</a:t>
            </a:r>
          </a:p>
          <a:p>
            <a:pPr>
              <a:spcAft>
                <a:spcPts val="1400"/>
              </a:spcAft>
              <a:defRPr sz="2000">
                <a:solidFill>
                  <a:srgbClr val="202A35"/>
                </a:solidFill>
                <a:latin typeface="Aptos"/>
              </a:defRPr>
            </a:pPr>
            <a:r>
              <a:t>•  Поиск работает без учёта регистра.</a:t>
            </a:r>
          </a:p>
          <a:p>
            <a:pPr>
              <a:spcAft>
                <a:spcPts val="1400"/>
              </a:spcAft>
              <a:defRPr sz="2000">
                <a:solidFill>
                  <a:srgbClr val="202A35"/>
                </a:solidFill>
                <a:latin typeface="Aptos"/>
              </a:defRPr>
            </a:pPr>
            <a:r>
              <a:t>•  Фильтры: жанр и год; сортировка: название и год.</a:t>
            </a:r>
          </a:p>
          <a:p>
            <a:pPr>
              <a:spcAft>
                <a:spcPts val="1400"/>
              </a:spcAft>
              <a:defRPr sz="2000">
                <a:solidFill>
                  <a:srgbClr val="202A35"/>
                </a:solidFill>
                <a:latin typeface="Aptos"/>
              </a:defRPr>
            </a:pPr>
            <a:r>
              <a:t>•  Есть отдельные страницы книги и избранного.</a:t>
            </a:r>
          </a:p>
          <a:p>
            <a:pPr>
              <a:spcAft>
                <a:spcPts val="1400"/>
              </a:spcAft>
              <a:defRPr sz="2000">
                <a:solidFill>
                  <a:srgbClr val="202A35"/>
                </a:solidFill>
                <a:latin typeface="Aptos"/>
              </a:defRPr>
            </a:pPr>
            <a:r>
              <a:t>•  Избранное сохраняется в сессии текущего браузера.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65F56"/>
                </a:solidFill>
                <a:latin typeface="Aptos Display"/>
              </a:defRPr>
            </a:pPr>
            <a:r>
              <a:t>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8747E"/>
                </a:solidFill>
                <a:latin typeface="Aptos"/>
              </a:defRPr>
            </a:pPr>
            <a:r>
              <a:t>Электронный каталог библиотеки · PHP 8.4 · Вариант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8747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02A35"/>
                </a:solidFill>
                <a:latin typeface="Aptos"/>
              </a:defRPr>
            </a:pPr>
            <a:r>
              <a:t>•  PHP 8.4+: серверная логика и обработка HTTP-запросов.</a:t>
            </a:r>
          </a:p>
          <a:p>
            <a:pPr>
              <a:spcAft>
                <a:spcPts val="1400"/>
              </a:spcAft>
              <a:defRPr sz="2000">
                <a:solidFill>
                  <a:srgbClr val="202A35"/>
                </a:solidFill>
                <a:latin typeface="Aptos"/>
              </a:defRPr>
            </a:pPr>
            <a:r>
              <a:t>•  HTML5 и CSS3: страницы и адаптивное оформление.</a:t>
            </a:r>
          </a:p>
          <a:p>
            <a:pPr>
              <a:spcAft>
                <a:spcPts val="1400"/>
              </a:spcAft>
              <a:defRPr sz="2000">
                <a:solidFill>
                  <a:srgbClr val="202A35"/>
                </a:solidFill>
                <a:latin typeface="Aptos"/>
              </a:defRPr>
            </a:pPr>
            <a:r>
              <a:t>•  JSON: хранение каталога книг в var/data/books.json.</a:t>
            </a:r>
          </a:p>
          <a:p>
            <a:pPr>
              <a:spcAft>
                <a:spcPts val="1400"/>
              </a:spcAft>
              <a:defRPr sz="2000">
                <a:solidFill>
                  <a:srgbClr val="202A35"/>
                </a:solidFill>
                <a:latin typeface="Aptos"/>
              </a:defRPr>
            </a:pPr>
            <a:r>
              <a:t>•  PHP Sessions: состояние избранного и CSRF-токен.</a:t>
            </a:r>
          </a:p>
          <a:p>
            <a:pPr>
              <a:spcAft>
                <a:spcPts val="1400"/>
              </a:spcAft>
              <a:defRPr sz="2000">
                <a:solidFill>
                  <a:srgbClr val="202A35"/>
                </a:solidFill>
                <a:latin typeface="Aptos"/>
              </a:defRPr>
            </a:pPr>
            <a:r>
              <a:t>•  Git и GitHub: контроль версий и публикация проекта.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65F56"/>
                </a:solidFill>
                <a:latin typeface="Aptos Display"/>
              </a:defRPr>
            </a:pPr>
            <a:r>
              <a:t>Архитектура и движение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8747E"/>
                </a:solidFill>
                <a:latin typeface="Aptos"/>
              </a:defRPr>
            </a:pPr>
            <a:r>
              <a:t>Электронный каталог библиотеки · PHP 8.4 · Вариант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8747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331720" cy="1417320"/>
          </a:xfrm>
          <a:prstGeom prst="roundRect">
            <a:avLst/>
          </a:prstGeom>
          <a:solidFill>
            <a:srgbClr val="E9EFEB"/>
          </a:solidFill>
          <a:ln>
            <a:solidFill>
              <a:srgbClr val="36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65F56"/>
                </a:solidFill>
              </a:defRPr>
            </a:pPr>
            <a:r>
              <a:t>Браузер</a:t>
            </a:r>
          </a:p>
          <a:p>
            <a:pPr algn="ctr">
              <a:defRPr sz="1200">
                <a:solidFill>
                  <a:srgbClr val="202A35"/>
                </a:solidFill>
              </a:defRPr>
            </a:pPr>
            <a:r>
              <a:t>GET: поиск и фильтры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3512" y="2606040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6A85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19456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6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65F56"/>
                </a:solidFill>
              </a:defRPr>
            </a:pPr>
            <a:r>
              <a:t>public/index.php</a:t>
            </a:r>
          </a:p>
          <a:p>
            <a:pPr algn="ctr">
              <a:defRPr sz="1200">
                <a:solidFill>
                  <a:srgbClr val="202A35"/>
                </a:solidFill>
              </a:defRPr>
            </a:pPr>
            <a:r>
              <a:t>Вывод каталога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88152" y="2606040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6A85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94560"/>
            <a:ext cx="2331720" cy="1417320"/>
          </a:xfrm>
          <a:prstGeom prst="roundRect">
            <a:avLst/>
          </a:prstGeom>
          <a:solidFill>
            <a:srgbClr val="E9EFEB"/>
          </a:solidFill>
          <a:ln>
            <a:solidFill>
              <a:srgbClr val="36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65F56"/>
                </a:solidFill>
              </a:defRPr>
            </a:pPr>
            <a:r>
              <a:t>src/functions.php</a:t>
            </a:r>
          </a:p>
          <a:p>
            <a:pPr algn="ctr">
              <a:defRPr sz="1200">
                <a:solidFill>
                  <a:srgbClr val="202A35"/>
                </a:solidFill>
              </a:defRPr>
            </a:pPr>
            <a:r>
              <a:t>Фильтрация и функции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22792" y="2606040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6A85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219456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6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65F56"/>
                </a:solidFill>
              </a:defRPr>
            </a:pPr>
            <a:r>
              <a:t>books.json</a:t>
            </a:r>
          </a:p>
          <a:p>
            <a:pPr algn="ctr">
              <a:defRPr sz="1200">
                <a:solidFill>
                  <a:srgbClr val="202A35"/>
                </a:solidFill>
              </a:defRPr>
            </a:pPr>
            <a:r>
              <a:t>30 книг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02A35"/>
                </a:solidFill>
                <a:latin typeface="Aptos"/>
              </a:defRPr>
            </a:pPr>
            <a:r>
              <a:t>Избранное изменяется отдельным POST-запросом и хранится в $_SESSION.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65F56"/>
                </a:solidFill>
                <a:latin typeface="Aptos Display"/>
              </a:defRPr>
            </a:pPr>
            <a:r>
              <a:t>Безопасность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8747E"/>
                </a:solidFill>
                <a:latin typeface="Aptos"/>
              </a:defRPr>
            </a:pPr>
            <a:r>
              <a:t>Электронный каталог библиотеки · PHP 8.4 · Вариант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8747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02A35"/>
                </a:solidFill>
                <a:latin typeface="Aptos"/>
              </a:defRPr>
            </a:pPr>
            <a:r>
              <a:t>•  htmlspecialchars() экранирует динамический текст.</a:t>
            </a:r>
          </a:p>
          <a:p>
            <a:pPr>
              <a:spcAft>
                <a:spcPts val="1400"/>
              </a:spcAft>
              <a:defRPr sz="2000">
                <a:solidFill>
                  <a:srgbClr val="202A35"/>
                </a:solidFill>
                <a:latin typeface="Aptos"/>
              </a:defRPr>
            </a:pPr>
            <a:r>
              <a:t>•  ID книги проверяется по существующему каталогу.</a:t>
            </a:r>
          </a:p>
          <a:p>
            <a:pPr>
              <a:spcAft>
                <a:spcPts val="1400"/>
              </a:spcAft>
              <a:defRPr sz="2000">
                <a:solidFill>
                  <a:srgbClr val="202A35"/>
                </a:solidFill>
                <a:latin typeface="Aptos"/>
              </a:defRPr>
            </a:pPr>
            <a:r>
              <a:t>•  Изменение избранного доступно только через POST.</a:t>
            </a:r>
          </a:p>
          <a:p>
            <a:pPr>
              <a:spcAft>
                <a:spcPts val="1400"/>
              </a:spcAft>
              <a:defRPr sz="2000">
                <a:solidFill>
                  <a:srgbClr val="202A35"/>
                </a:solidFill>
                <a:latin typeface="Aptos"/>
              </a:defRPr>
            </a:pPr>
            <a:r>
              <a:t>•  CSRF-токен проверяется через hash_equals().</a:t>
            </a:r>
          </a:p>
          <a:p>
            <a:pPr>
              <a:spcAft>
                <a:spcPts val="1400"/>
              </a:spcAft>
              <a:defRPr sz="2000">
                <a:solidFill>
                  <a:srgbClr val="202A35"/>
                </a:solidFill>
                <a:latin typeface="Aptos"/>
              </a:defRPr>
            </a:pPr>
            <a:r>
              <a:t>•  Сессионная cookie использует HttpOnly и SameSite=Lax.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65F56"/>
                </a:solidFill>
                <a:latin typeface="Aptos Display"/>
              </a:defRPr>
            </a:pPr>
            <a:r>
              <a:t>Демонстрация 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8747E"/>
                </a:solidFill>
                <a:latin typeface="Aptos"/>
              </a:defRPr>
            </a:pPr>
            <a:r>
              <a:t>Электронный каталог библиотеки · PHP 8.4 · Вариант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8747E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02A35"/>
                </a:solidFill>
                <a:latin typeface="Aptos"/>
              </a:defRPr>
            </a:pPr>
            <a:r>
              <a:t>•  Открыть главную страницу и показать каталог.</a:t>
            </a:r>
          </a:p>
          <a:p>
            <a:pPr>
              <a:spcAft>
                <a:spcPts val="1400"/>
              </a:spcAft>
              <a:defRPr sz="2000">
                <a:solidFill>
                  <a:srgbClr val="202A35"/>
                </a:solidFill>
                <a:latin typeface="Aptos"/>
              </a:defRPr>
            </a:pPr>
            <a:r>
              <a:t>•  Ввести «Булгаков» и продемонстрировать поиск.</a:t>
            </a:r>
          </a:p>
          <a:p>
            <a:pPr>
              <a:spcAft>
                <a:spcPts val="1400"/>
              </a:spcAft>
              <a:defRPr sz="2000">
                <a:solidFill>
                  <a:srgbClr val="202A35"/>
                </a:solidFill>
                <a:latin typeface="Aptos"/>
              </a:defRPr>
            </a:pPr>
            <a:r>
              <a:t>•  Выбрать жанр или год и изменить сортировку.</a:t>
            </a:r>
          </a:p>
          <a:p>
            <a:pPr>
              <a:spcAft>
                <a:spcPts val="1400"/>
              </a:spcAft>
              <a:defRPr sz="2000">
                <a:solidFill>
                  <a:srgbClr val="202A35"/>
                </a:solidFill>
                <a:latin typeface="Aptos"/>
              </a:defRPr>
            </a:pPr>
            <a:r>
              <a:t>•  Открыть карточку книги.</a:t>
            </a:r>
          </a:p>
          <a:p>
            <a:pPr>
              <a:spcAft>
                <a:spcPts val="1400"/>
              </a:spcAft>
              <a:defRPr sz="2000">
                <a:solidFill>
                  <a:srgbClr val="202A35"/>
                </a:solidFill>
                <a:latin typeface="Aptos"/>
              </a:defRPr>
            </a:pPr>
            <a:r>
              <a:t>•  Добавить книгу в избранное и показать отдельную страницу.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65F56"/>
                </a:solidFill>
                <a:latin typeface="Aptos Display"/>
              </a:defRPr>
            </a:pPr>
            <a:r>
              <a:t>Тестирование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8747E"/>
                </a:solidFill>
                <a:latin typeface="Aptos"/>
              </a:defRPr>
            </a:pPr>
            <a:r>
              <a:t>Электронный каталог библиотеки · PHP 8.4 · Вариант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8747E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02A35"/>
                </a:solidFill>
                <a:latin typeface="Aptos"/>
              </a:defRPr>
            </a:pPr>
            <a:r>
              <a:t>•  Позитивные: поиск, фильтр, сортировка, карточка книги.</a:t>
            </a:r>
          </a:p>
          <a:p>
            <a:pPr>
              <a:spcAft>
                <a:spcPts val="1400"/>
              </a:spcAft>
              <a:defRPr sz="1900">
                <a:solidFill>
                  <a:srgbClr val="202A35"/>
                </a:solidFill>
                <a:latin typeface="Aptos"/>
              </a:defRPr>
            </a:pPr>
            <a:r>
              <a:t>•  Граничные: пустой запрос и пустой результат.</a:t>
            </a:r>
          </a:p>
          <a:p>
            <a:pPr>
              <a:spcAft>
                <a:spcPts val="1400"/>
              </a:spcAft>
              <a:defRPr sz="1900">
                <a:solidFill>
                  <a:srgbClr val="202A35"/>
                </a:solidFill>
                <a:latin typeface="Aptos"/>
              </a:defRPr>
            </a:pPr>
            <a:r>
              <a:t>•  Ошибочные: неизвестный ID, неверный CSRF-токен.</a:t>
            </a:r>
          </a:p>
          <a:p>
            <a:pPr>
              <a:spcAft>
                <a:spcPts val="1400"/>
              </a:spcAft>
              <a:defRPr sz="1900">
                <a:solidFill>
                  <a:srgbClr val="202A35"/>
                </a:solidFill>
                <a:latin typeface="Aptos"/>
              </a:defRPr>
            </a:pPr>
            <a:r>
              <a:t>•  Метод GET для обработчика изменения отклоняется кодом 405.</a:t>
            </a:r>
          </a:p>
          <a:p>
            <a:pPr>
              <a:spcAft>
                <a:spcPts val="1400"/>
              </a:spcAft>
              <a:defRPr sz="1900">
                <a:solidFill>
                  <a:srgbClr val="202A35"/>
                </a:solidFill>
                <a:latin typeface="Aptos"/>
              </a:defRPr>
            </a:pPr>
            <a:r>
              <a:t>•  Сценарии подробно описаны в tests/test-cases.md.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65F56"/>
                </a:solidFill>
                <a:latin typeface="Aptos Display"/>
              </a:defRPr>
            </a:pPr>
            <a:r>
              <a:t>Итоги и развитие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8747E"/>
                </a:solidFill>
                <a:latin typeface="Aptos"/>
              </a:defRPr>
            </a:pPr>
            <a:r>
              <a:t>Электронный каталог библиотеки · PHP 8.4 · Вариант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8747E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02A35"/>
                </a:solidFill>
                <a:latin typeface="Aptos"/>
              </a:defRPr>
            </a:pPr>
            <a:r>
              <a:t>•  Реализован каталог на чистом PHP без СУБД.</a:t>
            </a:r>
          </a:p>
          <a:p>
            <a:pPr>
              <a:spcAft>
                <a:spcPts val="1400"/>
              </a:spcAft>
              <a:defRPr sz="1900">
                <a:solidFill>
                  <a:srgbClr val="202A35"/>
                </a:solidFill>
                <a:latin typeface="Aptos"/>
              </a:defRPr>
            </a:pPr>
            <a:r>
              <a:t>•  Данные книг находятся в JSON, избранное — в сессии.</a:t>
            </a:r>
          </a:p>
          <a:p>
            <a:pPr>
              <a:spcAft>
                <a:spcPts val="1400"/>
              </a:spcAft>
              <a:defRPr sz="1900">
                <a:solidFill>
                  <a:srgbClr val="202A35"/>
                </a:solidFill>
                <a:latin typeface="Aptos"/>
              </a:defRPr>
            </a:pPr>
            <a:r>
              <a:t>•  Подготовлены README, отчёт и тестовые сценарии.</a:t>
            </a:r>
          </a:p>
          <a:p>
            <a:pPr>
              <a:spcAft>
                <a:spcPts val="1400"/>
              </a:spcAft>
              <a:defRPr sz="1900">
                <a:solidFill>
                  <a:srgbClr val="202A35"/>
                </a:solidFill>
                <a:latin typeface="Aptos"/>
              </a:defRPr>
            </a:pPr>
            <a:r>
              <a:t>•  Дальше можно добавить авторизацию, админ-панель и журнал выдачи.</a:t>
            </a:r>
          </a:p>
          <a:p>
            <a:pPr>
              <a:spcAft>
                <a:spcPts val="1400"/>
              </a:spcAft>
              <a:defRPr sz="1900">
                <a:solidFill>
                  <a:srgbClr val="202A35"/>
                </a:solidFill>
                <a:latin typeface="Aptos"/>
              </a:defRPr>
            </a:pPr>
            <a:r>
              <a:t>•  GitHub: [вставить ссылку] · Автор: [ФИО, группа]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